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8"/>
    <p:restoredTop sz="94610"/>
  </p:normalViewPr>
  <p:slideViewPr>
    <p:cSldViewPr snapToGrid="0" snapToObjects="1">
      <p:cViewPr varScale="1">
        <p:scale>
          <a:sx n="221" d="100"/>
          <a:sy n="221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21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Real Values and Indices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trade data, 2000–2024   ·   249 countries   ·   636 items   ·   6,458,988 reported numbers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388421"/>
              </p:ext>
            </p:extLst>
          </p:nvPr>
        </p:nvGraphicFramePr>
        <p:xfrm>
          <a:off x="640080" y="1965960"/>
          <a:ext cx="11064240" cy="1590861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quantity and a value together — one country, item, year and 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1,471,187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875,393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country and item, in one direction — its pairs from 2000 to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79,687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USA and wheat is one import row and one export row. A unit value needs both a quantity and a value, so the two always go together as a pair.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10881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holds up to 25 pairs, one per year — import rows average 15, export rows 11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Cleaning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corrections then nothing else is removed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into rows: one country and item per import or export, with a quantity and value for each year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live animals — 20 items (CPC 021), traded in head rather than tonnes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asymmetric pairs — 58,978 quantity or value figures set to missing (a value with no quantity, or a quantity with no value)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size filter is applied. Small pairs are counted, not removed: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40043"/>
              </p:ext>
            </p:extLst>
          </p:nvPr>
        </p:nvGraphicFramePr>
        <p:xfrm>
          <a:off x="640080" y="3703320"/>
          <a:ext cx="10515600" cy="84582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(quantity and value both above zero)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1,471,187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875,393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those, below quantity &lt; 10 or value &lt;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377,648  (25.7%)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245,774  (28.1%)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these out would remove roughly a quarter of all pairs. It may still be worth doing — but it is not done here.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much base-year data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row, how many of its three base-year pairs exist: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101501"/>
              </p:ext>
            </p:extLst>
          </p:nvPr>
        </p:nvGraphicFramePr>
        <p:xfrm>
          <a:off x="640080" y="1965960"/>
          <a:ext cx="10515600" cy="173736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pairs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57,025  (57%)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31,503  (40%)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pair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7,277  (7%)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6,253  (8%)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pairs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  (8%)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9,133  (11%)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27,521  (28%)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32,798  (41%)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45536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missing in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105,940 of 299,619  (35%)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122,913 of 239,061  (51%)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76394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shortfall comes from rows with nothing at all in the base period — 27,521 import and 32,798 export rows.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gaps is filled in step 3 rather than dropped.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Rebuilding a missing year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the parent's movement, keep the country's own level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missing = UV anchor × ( parent missing / parent anchor 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881360" cy="239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is filled first — anchored on 2016 where it exists, otherwise on 2014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and 2016 are then filled from 2015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is the most specific group that has a unit value for both years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 row reporting only 2016: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= 2016 × the parent's 2016→2015 movement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= that new 2015 × the parent's 2015→2014 movement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Base unit 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value per base year, then a simple average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UV = ( UV 2014 + UV 2015 + UV 2016 ) /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years is filled in one of three ways: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— value ÷ quantity, when the country reported that year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— the year is missing, so it is estimated from a parent group's price movement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if no parent covers the years needed, the group's own unit value for that year is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row has no base-year data at all, the base unit value is taken straight from the fallback hierarchy.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fallback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belongs to several nested groups. The smallest is the most specific and is tried first: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8412480" cy="1447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for Kenya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country itself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specific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Africa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Widest fallback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both for the price movement above, and as a direct unit value when a row has no base data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this produced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row's base unit value came from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515600" cy="140970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country's own three years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57,025  (57%)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31,503  (40%)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rebuilt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15,288  (15%)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15,351  (19%)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from the hierarchy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26,370  (26%)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31,574  (40%)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base unit value possible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1,190  (1%)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1,259  (2%)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515600" cy="169164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Base-year pairs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by the country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193,679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116,148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from a parent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24,467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directly from a group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rows with no own base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82,563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98,394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299,619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239,061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rebuilt pair used a parent's price movement — only around 50 fell back to a group unit value.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 values and indices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price effects, then rebasing to 2014–2016 = 100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value = quantity × base UV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volumes priced at 2014–2016 levels, in 1,000 USD.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723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index = value / average base value ×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3814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 index = quantity / average base quantity × 100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039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value index = (value / quantity) / base UV × 100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averages come from the row's own base years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item level the real-value index is the same as the quantity index — it only becomes useful once items are combined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Aggregation, checks and outputs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b="1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summed into commodity groups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are summed into regions </a:t>
            </a:r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real value is the cross-item volume measure — tonnes of wheat and bananas cannot be added, but their values at fixed prices can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500" b="1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index above 5,000 is flagged for review; nothing is removed automatically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indices are published alongside the FAOSTAT figures for comparison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b="1" dirty="0"/>
          </a:p>
        </p:txBody>
      </p:sp>
      <p:sp>
        <p:nvSpPr>
          <p:cNvPr id="8" name="Text 6"/>
          <p:cNvSpPr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values · indices · base unit values · aggregates by country and region · coverage and gap reports · FAOSTAT comparison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Item groups excluded from the calculations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b="1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item groups in DisseminationList.csv are not calculated: no real values and no indices, for countries or regions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items are still calculated and still count in every other group they belong to (e.g. Agricultural Products)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listed in their own section of the dashboard's Dissemination groups tab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groups</a:t>
            </a:r>
            <a:endParaRPr lang="en-US" sz="1500" b="1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F1898  Hides and skins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F1900  Natural rubber *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F1846  Non-edible fats and oils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F1901  Textile fibres *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F2076  Other meat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F1902  Crude materials 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26480" y="3291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F1845  Non-edible crude materials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F1892  Fodder and feeding stuff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F1849  Other food nes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F1847  Non-food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F1848  Other food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next year</a:t>
            </a:r>
            <a:endParaRPr lang="en-US" sz="1500" b="1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Natural rubber (F1900) and Textile fibres (F1901) may be added to the calculations next year.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988</Words>
  <Application>Microsoft Macintosh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Birkan Durak</cp:lastModifiedBy>
  <cp:revision>22</cp:revision>
  <dcterms:created xsi:type="dcterms:W3CDTF">2026-07-22T22:36:52Z</dcterms:created>
  <dcterms:modified xsi:type="dcterms:W3CDTF">2026-07-30T08:22:13Z</dcterms:modified>
</cp:coreProperties>
</file>